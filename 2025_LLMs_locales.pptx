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cf15052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cf15052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bb67b246b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bb67b246b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f2fc283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f2fc283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f2fc2834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f2fc2834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f2fc2834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f2fc2834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f2fc2834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7f2fc2834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f2fc2834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f2fc2834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f2fc2834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7f2fc2834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1cf5133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1cf5133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1cf5133c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1cf5133c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f2fc28343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7f2fc2834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f2fc2834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7f2fc2834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f2fc2834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7f2fc2834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f2fc28343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7f2fc28343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f2fc28343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f2fc2834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0150" y="4606350"/>
            <a:ext cx="995075" cy="34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0150" y="4606350"/>
            <a:ext cx="995075" cy="34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0150" y="4606350"/>
            <a:ext cx="995075" cy="34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" name="Google Shape;3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0150" y="4606350"/>
            <a:ext cx="995075" cy="34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" name="Google Shape;3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0150" y="4606350"/>
            <a:ext cx="995075" cy="34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" name="Google Shape;3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0150" y="4606350"/>
            <a:ext cx="995075" cy="34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" name="Google Shape;43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0150" y="4606350"/>
            <a:ext cx="995075" cy="34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" name="Google Shape;5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0150" y="4606350"/>
            <a:ext cx="995075" cy="34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0150" y="4606350"/>
            <a:ext cx="995075" cy="34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" name="Google Shape;5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0150" y="4606350"/>
            <a:ext cx="995075" cy="34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" name="Google Shape;62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0150" y="4606350"/>
            <a:ext cx="995075" cy="34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11700" y="4568872"/>
            <a:ext cx="1205977" cy="44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0150" y="4606350"/>
            <a:ext cx="995075" cy="3442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rxiv.org/abs/2307.03172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hyperlink" Target="https://arxiv.org/pdf/2201.11903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help.openai.com/en/articles/6654000-best-practices-for-prompt-engineering-with-the-openai-api" TargetMode="External"/><Relationship Id="rId4" Type="http://schemas.openxmlformats.org/officeDocument/2006/relationships/hyperlink" Target="https://www.promptingguide.a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3" title="latin_r_ollamar202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ctrTitle"/>
          </p:nvPr>
        </p:nvSpPr>
        <p:spPr>
          <a:xfrm>
            <a:off x="311700" y="827325"/>
            <a:ext cx="8520600" cy="295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0000FF"/>
                </a:solidFill>
              </a:rPr>
              <a:t>Introducción veloz</a:t>
            </a:r>
            <a:endParaRPr b="1" sz="35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00FF"/>
                </a:solidFill>
              </a:rPr>
              <a:t>¿Cómo interactuamos con un LLM?</a:t>
            </a:r>
            <a:endParaRPr b="1" sz="30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0000FF"/>
                </a:solidFill>
              </a:rPr>
              <a:t>Una introducción a la ingeniería de prompts</a:t>
            </a:r>
            <a:endParaRPr b="1" sz="30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Transfer learning y fine tuning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466675"/>
            <a:ext cx="4331400" cy="39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Transfer learning: aplicar un modelo general pre-entrenado a una tarea nueva pero relacionada.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Fine tuning: usar un modelo pre-entrenado pero re-entrenándolo (es decir, modificando algunos, varios o todos sus parámetros) para una tarea nueva.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Transfer learning y fine tunning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305550" y="1002675"/>
            <a:ext cx="793750" cy="831100"/>
          </a:xfrm>
          <a:prstGeom prst="flowChartMagneticDisk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Train</a:t>
            </a:r>
            <a:r>
              <a:rPr lang="en" sz="1100">
                <a:solidFill>
                  <a:schemeClr val="dk1"/>
                </a:solidFill>
              </a:rPr>
              <a:t>i</a:t>
            </a:r>
            <a:r>
              <a:rPr lang="en" sz="1100"/>
              <a:t>ng data A</a:t>
            </a:r>
            <a:endParaRPr sz="1000"/>
          </a:p>
        </p:txBody>
      </p:sp>
      <p:sp>
        <p:nvSpPr>
          <p:cNvPr id="85" name="Google Shape;85;p16"/>
          <p:cNvSpPr/>
          <p:nvPr/>
        </p:nvSpPr>
        <p:spPr>
          <a:xfrm>
            <a:off x="305550" y="3492875"/>
            <a:ext cx="793750" cy="831100"/>
          </a:xfrm>
          <a:prstGeom prst="flowChartMagneticDisk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Train</a:t>
            </a:r>
            <a:r>
              <a:rPr lang="en" sz="1100">
                <a:solidFill>
                  <a:schemeClr val="dk1"/>
                </a:solidFill>
              </a:rPr>
              <a:t>i</a:t>
            </a:r>
            <a:r>
              <a:rPr lang="en" sz="1100"/>
              <a:t>ng data A</a:t>
            </a:r>
            <a:endParaRPr sz="1000"/>
          </a:p>
        </p:txBody>
      </p:sp>
      <p:sp>
        <p:nvSpPr>
          <p:cNvPr id="86" name="Google Shape;86;p16"/>
          <p:cNvSpPr/>
          <p:nvPr/>
        </p:nvSpPr>
        <p:spPr>
          <a:xfrm>
            <a:off x="305550" y="2243050"/>
            <a:ext cx="793750" cy="831100"/>
          </a:xfrm>
          <a:prstGeom prst="flowChartMagneticDisk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Train</a:t>
            </a:r>
            <a:r>
              <a:rPr lang="en" sz="1100">
                <a:solidFill>
                  <a:schemeClr val="dk1"/>
                </a:solidFill>
              </a:rPr>
              <a:t>i</a:t>
            </a:r>
            <a:r>
              <a:rPr lang="en" sz="1100"/>
              <a:t>ng data A</a:t>
            </a:r>
            <a:endParaRPr sz="1000"/>
          </a:p>
        </p:txBody>
      </p:sp>
      <p:sp>
        <p:nvSpPr>
          <p:cNvPr id="87" name="Google Shape;87;p16"/>
          <p:cNvSpPr/>
          <p:nvPr/>
        </p:nvSpPr>
        <p:spPr>
          <a:xfrm>
            <a:off x="1476175" y="2308350"/>
            <a:ext cx="990000" cy="700500"/>
          </a:xfrm>
          <a:prstGeom prst="flowChartAlternateProcess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Modelo base</a:t>
            </a:r>
            <a:endParaRPr sz="1100"/>
          </a:p>
        </p:txBody>
      </p:sp>
      <p:sp>
        <p:nvSpPr>
          <p:cNvPr id="88" name="Google Shape;88;p16"/>
          <p:cNvSpPr/>
          <p:nvPr/>
        </p:nvSpPr>
        <p:spPr>
          <a:xfrm>
            <a:off x="1476175" y="3558175"/>
            <a:ext cx="990000" cy="700500"/>
          </a:xfrm>
          <a:prstGeom prst="flowChartAlternateProcess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Modelo base</a:t>
            </a:r>
            <a:endParaRPr sz="1100"/>
          </a:p>
        </p:txBody>
      </p:sp>
      <p:sp>
        <p:nvSpPr>
          <p:cNvPr id="89" name="Google Shape;89;p16"/>
          <p:cNvSpPr/>
          <p:nvPr/>
        </p:nvSpPr>
        <p:spPr>
          <a:xfrm>
            <a:off x="4140175" y="1067975"/>
            <a:ext cx="990000" cy="700500"/>
          </a:xfrm>
          <a:prstGeom prst="flowChartAlternateProcess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Modelo base</a:t>
            </a:r>
            <a:endParaRPr sz="1100"/>
          </a:p>
        </p:txBody>
      </p:sp>
      <p:sp>
        <p:nvSpPr>
          <p:cNvPr id="90" name="Google Shape;90;p16"/>
          <p:cNvSpPr/>
          <p:nvPr/>
        </p:nvSpPr>
        <p:spPr>
          <a:xfrm>
            <a:off x="4018850" y="2348100"/>
            <a:ext cx="1232658" cy="621000"/>
          </a:xfrm>
          <a:prstGeom prst="flowChartTerminator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Modelo específico</a:t>
            </a:r>
            <a:endParaRPr sz="1100"/>
          </a:p>
        </p:txBody>
      </p:sp>
      <p:sp>
        <p:nvSpPr>
          <p:cNvPr id="91" name="Google Shape;91;p16"/>
          <p:cNvSpPr/>
          <p:nvPr/>
        </p:nvSpPr>
        <p:spPr>
          <a:xfrm>
            <a:off x="5472950" y="2303441"/>
            <a:ext cx="1391700" cy="700500"/>
          </a:xfrm>
          <a:prstGeom prst="parallelogram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Predicciones resultado</a:t>
            </a:r>
            <a:endParaRPr sz="1100"/>
          </a:p>
        </p:txBody>
      </p:sp>
      <p:sp>
        <p:nvSpPr>
          <p:cNvPr id="92" name="Google Shape;92;p16"/>
          <p:cNvSpPr/>
          <p:nvPr/>
        </p:nvSpPr>
        <p:spPr>
          <a:xfrm>
            <a:off x="5472950" y="1066966"/>
            <a:ext cx="1391700" cy="700500"/>
          </a:xfrm>
          <a:prstGeom prst="parallelogram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Predicciones resultado</a:t>
            </a:r>
            <a:endParaRPr sz="1100"/>
          </a:p>
        </p:txBody>
      </p:sp>
      <p:cxnSp>
        <p:nvCxnSpPr>
          <p:cNvPr id="93" name="Google Shape;93;p16"/>
          <p:cNvCxnSpPr>
            <a:stCxn id="89" idx="3"/>
            <a:endCxn id="92" idx="5"/>
          </p:cNvCxnSpPr>
          <p:nvPr/>
        </p:nvCxnSpPr>
        <p:spPr>
          <a:xfrm flipH="1" rot="10800000">
            <a:off x="5130175" y="1417325"/>
            <a:ext cx="4302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6"/>
          <p:cNvCxnSpPr>
            <a:stCxn id="86" idx="4"/>
            <a:endCxn id="87" idx="1"/>
          </p:cNvCxnSpPr>
          <p:nvPr/>
        </p:nvCxnSpPr>
        <p:spPr>
          <a:xfrm>
            <a:off x="1099300" y="2658600"/>
            <a:ext cx="37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6"/>
          <p:cNvSpPr/>
          <p:nvPr/>
        </p:nvSpPr>
        <p:spPr>
          <a:xfrm>
            <a:off x="5472950" y="3558175"/>
            <a:ext cx="1391700" cy="700500"/>
          </a:xfrm>
          <a:prstGeom prst="parallelogram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Predicciones resul|tado</a:t>
            </a:r>
            <a:endParaRPr sz="1100"/>
          </a:p>
        </p:txBody>
      </p:sp>
      <p:cxnSp>
        <p:nvCxnSpPr>
          <p:cNvPr id="96" name="Google Shape;96;p16"/>
          <p:cNvCxnSpPr>
            <a:stCxn id="85" idx="4"/>
            <a:endCxn id="88" idx="1"/>
          </p:cNvCxnSpPr>
          <p:nvPr/>
        </p:nvCxnSpPr>
        <p:spPr>
          <a:xfrm>
            <a:off x="1099300" y="3908425"/>
            <a:ext cx="37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6"/>
          <p:cNvCxnSpPr>
            <a:stCxn id="90" idx="3"/>
            <a:endCxn id="91" idx="5"/>
          </p:cNvCxnSpPr>
          <p:nvPr/>
        </p:nvCxnSpPr>
        <p:spPr>
          <a:xfrm flipH="1" rot="10800000">
            <a:off x="5251508" y="2653800"/>
            <a:ext cx="3090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" name="Google Shape;98;p16"/>
          <p:cNvSpPr txBox="1"/>
          <p:nvPr/>
        </p:nvSpPr>
        <p:spPr>
          <a:xfrm>
            <a:off x="3549863" y="2447100"/>
            <a:ext cx="299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2800325" y="2352825"/>
            <a:ext cx="989982" cy="621000"/>
          </a:xfrm>
          <a:prstGeom prst="flowChart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Embeddings resultado</a:t>
            </a:r>
            <a:endParaRPr sz="1100"/>
          </a:p>
        </p:txBody>
      </p:sp>
      <p:cxnSp>
        <p:nvCxnSpPr>
          <p:cNvPr id="100" name="Google Shape;100;p16"/>
          <p:cNvCxnSpPr>
            <a:stCxn id="87" idx="3"/>
            <a:endCxn id="99" idx="1"/>
          </p:cNvCxnSpPr>
          <p:nvPr/>
        </p:nvCxnSpPr>
        <p:spPr>
          <a:xfrm>
            <a:off x="2466175" y="2658600"/>
            <a:ext cx="3342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6"/>
          <p:cNvCxnSpPr>
            <a:stCxn id="99" idx="3"/>
            <a:endCxn id="90" idx="1"/>
          </p:cNvCxnSpPr>
          <p:nvPr/>
        </p:nvCxnSpPr>
        <p:spPr>
          <a:xfrm flipH="1" rot="10800000">
            <a:off x="3790307" y="2658525"/>
            <a:ext cx="2286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6"/>
          <p:cNvCxnSpPr>
            <a:stCxn id="84" idx="4"/>
            <a:endCxn id="89" idx="1"/>
          </p:cNvCxnSpPr>
          <p:nvPr/>
        </p:nvCxnSpPr>
        <p:spPr>
          <a:xfrm>
            <a:off x="1099300" y="1418225"/>
            <a:ext cx="3040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" name="Google Shape;103;p16"/>
          <p:cNvSpPr txBox="1"/>
          <p:nvPr/>
        </p:nvSpPr>
        <p:spPr>
          <a:xfrm>
            <a:off x="7106400" y="957475"/>
            <a:ext cx="1725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Ejemplo: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GPT4, Gemma, etc.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7182600" y="2024275"/>
            <a:ext cx="1725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Ejemplo: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Usar BERT para generar embeddings para usarlos como input de un random forest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7182600" y="3395875"/>
            <a:ext cx="1725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Ejemplo: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Hacer fine tuning sobre Llama para extraer información estructurada de texto no estructurado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3128300" y="3476425"/>
            <a:ext cx="1672500" cy="8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</a:rPr>
              <a:t>Fine tunear:</a:t>
            </a:r>
            <a:endParaRPr b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Actualizar algunas capas superiores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Actualizar  todas las capas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Agregar capas</a:t>
            </a:r>
            <a:endParaRPr sz="400">
              <a:solidFill>
                <a:schemeClr val="dk2"/>
              </a:solidFill>
            </a:endParaRPr>
          </a:p>
        </p:txBody>
      </p:sp>
      <p:cxnSp>
        <p:nvCxnSpPr>
          <p:cNvPr id="107" name="Google Shape;107;p16"/>
          <p:cNvCxnSpPr>
            <a:stCxn id="88" idx="3"/>
            <a:endCxn id="106" idx="1"/>
          </p:cNvCxnSpPr>
          <p:nvPr/>
        </p:nvCxnSpPr>
        <p:spPr>
          <a:xfrm>
            <a:off x="2466175" y="3908425"/>
            <a:ext cx="66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6"/>
          <p:cNvCxnSpPr>
            <a:stCxn id="106" idx="3"/>
            <a:endCxn id="95" idx="5"/>
          </p:cNvCxnSpPr>
          <p:nvPr/>
        </p:nvCxnSpPr>
        <p:spPr>
          <a:xfrm>
            <a:off x="4800800" y="3908425"/>
            <a:ext cx="75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311700" y="1274225"/>
            <a:ext cx="4049700" cy="23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Instrucción: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¿Qué debe hacer el modelo?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Contexto: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¿Qué información es útil?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Formato: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¿Qué tipo de salida queremos?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Ejemplos (opcional)</a:t>
            </a:r>
            <a:endParaRPr/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Componentes básicos de un prompt</a:t>
            </a:r>
            <a:endParaRPr b="1">
              <a:solidFill>
                <a:srgbClr val="00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11700" y="771475"/>
            <a:ext cx="8028000" cy="39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Importancia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Definir la tarea:</a:t>
            </a:r>
            <a:r>
              <a:rPr lang="en"/>
              <a:t> Establecer claramente el objetivo del análisis de texto. ¿Qué tipo de información específica o “insight” se quiere extraer del texto?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Determinar el resultado deseado:</a:t>
            </a:r>
            <a:r>
              <a:rPr lang="en"/>
              <a:t> Identificar el tipo de respuesta esperada (información factual, opiniones subjetivas, etc.).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Considerar longitud y especificidad:</a:t>
            </a:r>
            <a:r>
              <a:rPr lang="en"/>
              <a:t> Equilibrar entre un prompt conciso y uno exploratorio según los objetivos del análisis.</a:t>
            </a:r>
            <a:endParaRPr/>
          </a:p>
        </p:txBody>
      </p:sp>
      <p:sp>
        <p:nvSpPr>
          <p:cNvPr id="120" name="Google Shape;120;p1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Prompt engineering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311700" y="771475"/>
            <a:ext cx="8000400" cy="39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Incluir instrucciones o contexto:</a:t>
            </a:r>
            <a:r>
              <a:rPr lang="en"/>
              <a:t> Proveer instrucciones o información contextual que pueda ser relevante. Esto puede incluir “pedirle” al LLM que considere ciertos aspectos del texto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Basarse en investigaciones previas:</a:t>
            </a:r>
            <a:r>
              <a:rPr lang="en"/>
              <a:t> Utilizar instrucciones de codificación humana como referencia.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Hacer los resultados analizables:</a:t>
            </a:r>
            <a:r>
              <a:rPr lang="en"/>
              <a:t> Asegurar que la salida del modelo sea consistente y sistemática. Por ejemplo, si la salida esperada es una escala de 1 a 4, podría incluirse “[Contester en formato “0, 1, 2, 3”. No expliques tu respuesta.]’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Iterar y probar:</a:t>
            </a:r>
            <a:r>
              <a:rPr lang="en"/>
              <a:t> Experimentar con diferentes formulaciones y ajustar según los resultados obtenidos.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Prompt engineering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595301" y="707022"/>
            <a:ext cx="7758300" cy="23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Describir el rol que el LLM debe asumir. Por ejemplo, “Sos un experto en el análisis de la distribución del ingreso”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Instrucción: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¿Qué debe hacer el modelo?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Contexto: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¿Qué información es útil?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Formato: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¿Qué tipo de salida queremos?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Audiencia: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El público/target del texto generado.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Tono: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El tono de la “voz” que el LLM debe usar (formal, informal, académico,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Ejemplos (opcional)</a:t>
            </a:r>
            <a:endParaRPr/>
          </a:p>
        </p:txBody>
      </p:sp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Componentes avanzados de un prompt</a:t>
            </a:r>
            <a:endParaRPr b="1">
              <a:solidFill>
                <a:srgbClr val="00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595301" y="707022"/>
            <a:ext cx="7758300" cy="23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Rol “system”</a:t>
            </a:r>
            <a:endParaRPr b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Función: establecer el marco general de la conversación.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 un mensaje invisible para el usuario final, pero fundamental para dar instrucciones al modelo.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Ejemplo de uso: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Indicar tono: “Respondé de manera académica y formal.”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Definir identidad: “Sos un asistente experto en sociología rural.”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Marcar límites: “Nunca des información personal ni inventes citas.”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</a:t>
            </a:r>
            <a:r>
              <a:rPr lang="en"/>
              <a:t>odríamos pensarlo como el </a:t>
            </a:r>
            <a:r>
              <a:rPr b="1" lang="en"/>
              <a:t>contexto de interacción (o las “expectativas de rol” parsonianas)</a:t>
            </a:r>
            <a:r>
              <a:rPr lang="en"/>
              <a:t>: fija las reglas antes de que empiece el diálogo.</a:t>
            </a:r>
            <a:endParaRPr/>
          </a:p>
        </p:txBody>
      </p:sp>
      <p:sp>
        <p:nvSpPr>
          <p:cNvPr id="138" name="Google Shape;138;p2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Roles en los prompts</a:t>
            </a:r>
            <a:endParaRPr b="1">
              <a:solidFill>
                <a:srgbClr val="00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595300" y="707027"/>
            <a:ext cx="7758300" cy="39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Rol “user</a:t>
            </a:r>
            <a:r>
              <a:rPr b="1" lang="en"/>
              <a:t>”</a:t>
            </a:r>
            <a:endParaRPr b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</a:t>
            </a:r>
            <a:r>
              <a:rPr lang="en"/>
              <a:t>unción: c</a:t>
            </a:r>
            <a:r>
              <a:rPr lang="en"/>
              <a:t>orresponde al mensaje del interlocutor humano (quien consulta).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 la entrada principal de texto o prompt.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Ejemplo de uso: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“Explicá qué es una API con un ejemplo sencillo.”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“Resumí este texto en 3 puntos.”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Sería algo así como el </a:t>
            </a:r>
            <a:r>
              <a:rPr b="1" lang="en"/>
              <a:t>acto de habla</a:t>
            </a:r>
            <a:r>
              <a:rPr lang="en"/>
              <a:t> del usuario: lo que inicia o guía la interacción.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/>
              <a:t>Otros roles: assistant o function/tool</a:t>
            </a:r>
            <a:endParaRPr b="1"/>
          </a:p>
        </p:txBody>
      </p:sp>
      <p:sp>
        <p:nvSpPr>
          <p:cNvPr id="144" name="Google Shape;144;p2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Roles en los prompts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X-shot learning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11700" y="466675"/>
            <a:ext cx="4331400" cy="39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Simplemente, supone proveer ejemplos (x-ejemplos) de la nueva tarea</a:t>
            </a:r>
            <a:endParaRPr/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0000" y="941525"/>
            <a:ext cx="4477801" cy="3473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X-shot learning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311700" y="466675"/>
            <a:ext cx="4331400" cy="39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Ventajas</a:t>
            </a:r>
            <a:endParaRPr b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requiere grandes datasets etiquetados de forma ad-hoc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hace falta crear copias del modelo original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Hay cierto carácter “intuitivo” en el diseño de un prompt</a:t>
            </a:r>
            <a:endParaRPr/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4731300" y="466675"/>
            <a:ext cx="4331400" cy="39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Desventajas</a:t>
            </a:r>
            <a:endParaRPr b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 prompt engineering es manual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Los prompts son específicos de cada modelo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 largo del contexto es una limitación: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 agregamos más ejemplos, hay menos espacio para las instrucciones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Contextos más largos =&gt; mayor tiempo de respuesta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veces los LLMs “olvidan” las partes intermedias (</a:t>
            </a:r>
            <a:r>
              <a:rPr lang="en" u="sng">
                <a:solidFill>
                  <a:schemeClr val="hlink"/>
                </a:solidFill>
                <a:hlinkClick r:id="rId3"/>
              </a:rPr>
              <a:t>Liu et al -2023</a:t>
            </a:r>
            <a:r>
              <a:rPr lang="en"/>
              <a:t>-)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311700" y="923875"/>
            <a:ext cx="8000400" cy="39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Desglosar un problema o una pregunta compleja en una serie de pasos más pequeños y manejables. La idea es que al dividir la tarea en subproblemas y resolver cada uno de ellos secuencialmente, el modelo puede producir respuestas más precisas y coherentes.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¿Cómo funciona?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Descomposición de la tarea: Se divide la tarea principal en varios pasos intermedios que son más fáciles de resolver.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Razones explícitas: Se pide al modelo que genere una "cadena de pensamiento" en lugar de simplemente dar una respuesta directa. Esto significa que el modelo explica su proceso de pensamiento paso a paso.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Generación de la respuesta: Después de desglosar el problema y razonar a través de cada paso, el modelo genera la respuesta final.</a:t>
            </a:r>
            <a:endParaRPr/>
          </a:p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Chain of Thought (CoT) prompting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Chain of Thought (CoT) prompting</a:t>
            </a:r>
            <a:endParaRPr b="1">
              <a:solidFill>
                <a:srgbClr val="0000FF"/>
              </a:solidFill>
            </a:endParaRPr>
          </a:p>
        </p:txBody>
      </p:sp>
      <p:pic>
        <p:nvPicPr>
          <p:cNvPr id="170" name="Google Shape;17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986" y="789125"/>
            <a:ext cx="6858138" cy="390819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6"/>
          <p:cNvSpPr txBox="1"/>
          <p:nvPr/>
        </p:nvSpPr>
        <p:spPr>
          <a:xfrm>
            <a:off x="6517700" y="4697325"/>
            <a:ext cx="27210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Fuente: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Lei et al 2022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311700" y="1076275"/>
            <a:ext cx="8000400" cy="39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ChatGPT</a:t>
            </a:r>
            <a:endParaRPr sz="17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" sz="17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Prompt Guide AI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Algunas guías útiles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